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11680"/>
            <a:ext cx="137160" cy="29260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200" b="1">
                <a:solidFill>
                  <a:srgbClr val="F8F9FA"/>
                </a:solidFill>
                <a:latin typeface="Malgun Gothic"/>
              </a:defRPr>
            </a:pPr>
            <a:r>
              <a:t>주식 퀀트 AI 스크리너 알고리즘 설계</a:t>
            </a:r>
          </a:p>
          <a:p>
            <a:pPr>
              <a:spcAft>
                <a:spcPts val="2400"/>
              </a:spcAft>
              <a:defRPr sz="2000">
                <a:solidFill>
                  <a:srgbClr val="00D2FF"/>
                </a:solidFill>
                <a:latin typeface="Malgun Gothic"/>
              </a:defRPr>
            </a:pPr>
            <a:r>
              <a:t>진입 점수 (Entry Score) 및 평가 점수 (Evaluation Score) 산출 공식</a:t>
            </a:r>
          </a:p>
          <a:p>
            <a:pPr>
              <a:defRPr sz="1200">
                <a:solidFill>
                  <a:srgbClr val="ADB5BD"/>
                </a:solidFill>
                <a:latin typeface="Malgun Gothic"/>
              </a:defRPr>
            </a:pPr>
            <a:r>
              <a:t>주식 발굴 및 포트폴리오 리밸런싱 시스템 설계서 부록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Malgun Gothic"/>
              </a:defRPr>
            </a:pPr>
            <a:r>
              <a:t>1. 퀀트 평가 모델 개요 (System Overview)</a:t>
            </a:r>
          </a:p>
          <a:p>
            <a:pPr>
              <a:spcBef>
                <a:spcPts val="400"/>
              </a:spcBef>
              <a:defRPr sz="1400">
                <a:solidFill>
                  <a:srgbClr val="ADB5BD"/>
                </a:solidFill>
                <a:latin typeface="Malgun Gothic"/>
              </a:defRPr>
            </a:pPr>
            <a:r>
              <a:t>핵심 평가 엔진인 진입 점수와 평가 점수의 아키텍처적 역할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solidFill>
            <a:srgbClr val="161C2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47548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FF"/>
                </a:solidFill>
                <a:latin typeface="Malgun Gothic"/>
              </a:defRPr>
            </a:pPr>
            <a:r>
              <a:t>진입 점수 (Entry Score) - 기술적 시점 분석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목적: 현재 주가가 기술적으로 매수 또는 진입하기에 적합한 시점인지 판정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분석 방법: 단기 추세, 모멘텀, 조정 깊이, 수급 조건을 계량 평가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핵심 지표: 이동평균선(SMA), MACD, RSI, 거래량(Volume)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가중치 합산 방식: 최종 실수 스펙(-1.0 ~ +1.0)을 산출한 뒤, 시스템 저장 및 UI 렌더링을 위해 0~100점 범위로 매핑하여 저장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권장 매매 행동 연동: 점수 범위에 따라 매수(Buy) / 보유(Hold) / 축소(Reduce) / 매도(Sell) 판단 자동 결정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828800"/>
            <a:ext cx="5120640" cy="4114800"/>
          </a:xfrm>
          <a:prstGeom prst="rect">
            <a:avLst/>
          </a:prstGeom>
          <a:solidFill>
            <a:srgbClr val="161C2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5392" y="2011680"/>
            <a:ext cx="47548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C107"/>
                </a:solidFill>
                <a:latin typeface="Malgun Gothic"/>
              </a:defRPr>
            </a:pPr>
            <a:r>
              <a:t>평가 점수 (Evaluation Score) - 기본적 기업 가치 분석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목적: 기업의 본질적인 재무 성장 모멘텀 및 저평가 상태 검증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분석 방법: 밸류에이션, 이익 성장률, 상승 여력, 명가 투자 규칙 점수화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핵심 지표: trailingPE, pegRatio, trailingEps, forwardEps, targetMeanPrice, CANSLIM 통과여부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가중치 배분: PER(30%) + PEG(20%) + EPS성장(20%) + 상승여력(15%) + CANSLIM(15%) = 총 100점 만점 구조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용도: 자산 배분 비중 조정 및 추천 리포트 최종 종목 선별 기준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Malgun Gothic"/>
              </a:defRPr>
            </a:pPr>
            <a:r>
              <a:t>2. 진입 점수 (Entry Score) 산출 공식</a:t>
            </a:r>
          </a:p>
          <a:p>
            <a:pPr>
              <a:spcBef>
                <a:spcPts val="400"/>
              </a:spcBef>
              <a:defRPr sz="1400">
                <a:solidFill>
                  <a:srgbClr val="ADB5BD"/>
                </a:solidFill>
                <a:latin typeface="Malgun Gothic"/>
              </a:defRPr>
            </a:pPr>
            <a:r>
              <a:t>기술적 분석 4대 핵심 지표 신호 가중 합산 및 0~100점 선형 매핑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10817352" cy="10972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9FA"/>
                </a:solidFill>
                <a:latin typeface="Malgun Gothic"/>
              </a:defRPr>
            </a:pPr>
            <a:r>
              <a:t>최종 점수 (Final Score) = 0.4 × S1 (추세) + 0.3 × S2 (모멘텀) + 0.2 × S3 (눌림목) + 0.1 × S4 (수급)</a:t>
            </a:r>
            <a:br/>
            <a:r>
              <a:t>시스템 매핑 점수 (Mapped Score) = int((Final Score + 1.0) × 50)  [ 0점 ~ 100점 범위 ]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017520"/>
            <a:ext cx="2542032" cy="3108960"/>
          </a:xfrm>
          <a:prstGeom prst="rect">
            <a:avLst/>
          </a:prstGeom>
          <a:solidFill>
            <a:srgbClr val="161C2D"/>
          </a:solidFill>
          <a:ln w="63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2176272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FF"/>
                </a:solidFill>
                <a:latin typeface="Malgun Gothic"/>
              </a:defRPr>
            </a:pPr>
            <a:r>
              <a:t>S1. 추세 (이평선 정배열)</a:t>
            </a:r>
            <a:br/>
            <a:r>
              <a:t>[가중치 40%]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5일/20일/200일선 분석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+1점: 현재가 &gt; 5 &gt; 20 &gt; 200 (정배열 상승)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-1점: 현재가 &lt; 5 &lt; 20 &lt; 200 (역배열 하락)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0점: 이평선 혼조세 및 횡보 구간</a:t>
            </a:r>
          </a:p>
        </p:txBody>
      </p:sp>
      <p:sp>
        <p:nvSpPr>
          <p:cNvPr id="6" name="Rectangle 5"/>
          <p:cNvSpPr/>
          <p:nvPr/>
        </p:nvSpPr>
        <p:spPr>
          <a:xfrm>
            <a:off x="3438144" y="3017520"/>
            <a:ext cx="2542032" cy="3108960"/>
          </a:xfrm>
          <a:prstGeom prst="rect">
            <a:avLst/>
          </a:prstGeom>
          <a:solidFill>
            <a:srgbClr val="161C2D"/>
          </a:solidFill>
          <a:ln w="63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21024" y="3200400"/>
            <a:ext cx="2176272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FF"/>
                </a:solidFill>
                <a:latin typeface="Malgun Gothic"/>
              </a:defRPr>
            </a:pPr>
            <a:r>
              <a:t>S2. 모멘텀 (MACD 교차)</a:t>
            </a:r>
            <a:br/>
            <a:r>
              <a:t>[가중치 30%]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MACD &amp; 시그널선 크로스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+1점: MACD 0선 이상에서 시그널 상향 돌파 (골든크로스)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-1점: 시그널선 하향 돌파 (데드크로스)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0점: 기타 일반 유지 구간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0488" y="3017520"/>
            <a:ext cx="2542032" cy="3108960"/>
          </a:xfrm>
          <a:prstGeom prst="rect">
            <a:avLst/>
          </a:prstGeom>
          <a:solidFill>
            <a:srgbClr val="161C2D"/>
          </a:solidFill>
          <a:ln w="63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3200400"/>
            <a:ext cx="2176272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FF"/>
                </a:solidFill>
                <a:latin typeface="Malgun Gothic"/>
              </a:defRPr>
            </a:pPr>
            <a:r>
              <a:t>S3. 눌림목 (RSI 조정)</a:t>
            </a:r>
            <a:br/>
            <a:r>
              <a:t>[가중치 20%]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과매수/과매도 분석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+1점: 상승장(S1=1)에서 RSI 40~50 조정 시 (건전한 진입 기회)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-1점: RSI 80 초과 과매수 구간 (단기 과열)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0점: 기타 중간 안전 구간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42832" y="3017520"/>
            <a:ext cx="2542032" cy="3108960"/>
          </a:xfrm>
          <a:prstGeom prst="rect">
            <a:avLst/>
          </a:prstGeom>
          <a:solidFill>
            <a:srgbClr val="161C2D"/>
          </a:solidFill>
          <a:ln w="63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5712" y="3200400"/>
            <a:ext cx="2176272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FF"/>
                </a:solidFill>
                <a:latin typeface="Malgun Gothic"/>
              </a:defRPr>
            </a:pPr>
            <a:r>
              <a:t>S4. 수급 (거래량 돌파)</a:t>
            </a:r>
            <a:br/>
            <a:r>
              <a:t>[가중치 10%]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거래 대금 수급 여력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+1점: 당일 거래량 &gt; 최근 20일 평균의 1.5배 이상 &amp; 당일 양봉 마감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0점: 거래량이 미수반된 흐름 또는 음봉 마감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Malgun Gothic"/>
              </a:defRPr>
            </a:pPr>
            <a:r>
              <a:t>3. 진입 점수에 따른 종합 매매 판단 (Action Map)</a:t>
            </a:r>
          </a:p>
          <a:p>
            <a:pPr>
              <a:spcBef>
                <a:spcPts val="400"/>
              </a:spcBef>
              <a:defRPr sz="1400">
                <a:solidFill>
                  <a:srgbClr val="ADB5BD"/>
                </a:solidFill>
                <a:latin typeface="Malgun Gothic"/>
              </a:defRPr>
            </a:pPr>
            <a:r>
              <a:t>산출된 Mapped Score(0~100)를 기준으로 권장 매매 판단 매칭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2011680"/>
          <a:ext cx="1081735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416552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00D2FF"/>
                          </a:solidFill>
                          <a:latin typeface="Malgun Gothic"/>
                        </a:defRPr>
                      </a:pPr>
                      <a:r>
                        <a:t>최종 실수 점수 (Final Score)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00D2FF"/>
                          </a:solidFill>
                          <a:latin typeface="Malgun Gothic"/>
                        </a:defRPr>
                      </a:pPr>
                      <a:r>
                        <a:t>매핑 정수 점수 (Mapped Score)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00D2FF"/>
                          </a:solidFill>
                          <a:latin typeface="Malgun Gothic"/>
                        </a:defRPr>
                      </a:pPr>
                      <a:r>
                        <a:t>권장 매매 행동 (Action Strategy)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+0.6 ~ +1.0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80점 ~ 100점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0FF66"/>
                          </a:solidFill>
                          <a:latin typeface="Malgun Gothic"/>
                        </a:defRPr>
                      </a:pPr>
                      <a:r>
                        <a:t>🟢 적극 매수 (Strong Buy) - 강한 상승 추세 및 안전 진입점 형성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0.0 ~ +0.5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50점 ~ 75점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C107"/>
                          </a:solidFill>
                          <a:latin typeface="Malgun Gothic"/>
                        </a:defRPr>
                      </a:pPr>
                      <a:r>
                        <a:t>🟡 분할 매수 또는 보유 (Hold/Buy) - 추세 유지 중이나 추격 매수 유의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-0.5 ~ -0.1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25점 ~ 45점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🟠 비중 축소 또는 관망 (Reduce/Wait) - 단기 하방 압력 또는 혼조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-1.0 ~ -0.6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0점 ~ 20점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0055"/>
                          </a:solidFill>
                          <a:latin typeface="Malgun Gothic"/>
                        </a:defRPr>
                      </a:pPr>
                      <a:r>
                        <a:t>🔴 적극 매도 (Strong Sell) - 완전한 역배열 하락 추세 지속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Malgun Gothic"/>
              </a:defRPr>
            </a:pPr>
            <a:r>
              <a:t>4. 평가 점수 (Evaluation Score) 배분</a:t>
            </a:r>
          </a:p>
          <a:p>
            <a:pPr>
              <a:spcBef>
                <a:spcPts val="400"/>
              </a:spcBef>
              <a:defRPr sz="1400">
                <a:solidFill>
                  <a:srgbClr val="ADB5BD"/>
                </a:solidFill>
                <a:latin typeface="Malgun Gothic"/>
              </a:defRPr>
            </a:pPr>
            <a:r>
              <a:t>기본적 재무 가치 및 성장성, 컨센서스, CANSLIM 만족도를 종합 합산(총 100점)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2011680"/>
          <a:ext cx="5943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22860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D2FF"/>
                          </a:solidFill>
                          <a:latin typeface="Malgun Gothic"/>
                        </a:defRPr>
                      </a:pPr>
                      <a:r>
                        <a:t>평가 항목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D2FF"/>
                          </a:solidFill>
                          <a:latin typeface="Malgun Gothic"/>
                        </a:defRPr>
                      </a:pPr>
                      <a:r>
                        <a:t>가중치(만점)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D2FF"/>
                          </a:solidFill>
                          <a:latin typeface="Malgun Gothic"/>
                        </a:defRPr>
                      </a:pPr>
                      <a:r>
                        <a:t>yfinance 매핑 지표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① PER 밸류에이션 평가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D2FF"/>
                          </a:solidFill>
                          <a:latin typeface="Malgun Gothic"/>
                        </a:defRPr>
                      </a:pPr>
                      <a:r>
                        <a:t>30점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trailingPE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② PEG 성장대비 주가 평가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D2FF"/>
                          </a:solidFill>
                          <a:latin typeface="Malgun Gothic"/>
                        </a:defRPr>
                      </a:pPr>
                      <a:r>
                        <a:t>20점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pegRatio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③ 미래 EPS 성장성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D2FF"/>
                          </a:solidFill>
                          <a:latin typeface="Malgun Gothic"/>
                        </a:defRPr>
                      </a:pPr>
                      <a:r>
                        <a:t>20점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trailing/forwardEps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④ 애널리스트 상승여력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D2FF"/>
                          </a:solidFill>
                          <a:latin typeface="Malgun Gothic"/>
                        </a:defRPr>
                      </a:pPr>
                      <a:r>
                        <a:t>15점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targetMeanPrice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⑤ CANSLIM 필터 가산점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D2FF"/>
                          </a:solidFill>
                          <a:latin typeface="Malgun Gothic"/>
                        </a:defRPr>
                      </a:pPr>
                      <a:r>
                        <a:t>15점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9FA"/>
                          </a:solidFill>
                          <a:latin typeface="Malgun Gothic"/>
                        </a:defRPr>
                      </a:pPr>
                      <a:r>
                        <a:t>passed_screener</a:t>
                      </a:r>
                    </a:p>
                  </a:txBody>
                  <a:tcPr>
                    <a:solidFill>
                      <a:srgbClr val="0B0E17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858000" y="2011680"/>
            <a:ext cx="4645152" cy="3840480"/>
          </a:xfrm>
          <a:prstGeom prst="rect">
            <a:avLst/>
          </a:prstGeom>
          <a:solidFill>
            <a:srgbClr val="161C2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0" y="2194560"/>
            <a:ext cx="4279392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C107"/>
                </a:solidFill>
                <a:latin typeface="Malgun Gothic"/>
              </a:defRPr>
            </a:pPr>
            <a:r>
              <a:t>기본적 분석 기반 평가 철학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재무 건전성 및 이익 성장 속도 결합: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전형적인 가치주 지표(PER)와 모멘텀 성장주 지표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(PEG, EPS성장, CANSLIM)를 적절히 혼합 설계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데이터 수집의 한계 예방: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yfinance 등에서 특정 재무 정보 누락 시(예: 적자),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해당 항목만 0점 처리하고 전체 합산이 유지되도록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코드 레벨에서 유연한 예외 처리 설계 적용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최종 종목 추천 랭킹 산출에 직결: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스크리너 화면에서 점수 기반 정렬에 최우선 사용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Malgun Gothic"/>
              </a:defRPr>
            </a:pPr>
            <a:r>
              <a:t>5. 평가 항목별 상세 산출 로직</a:t>
            </a:r>
          </a:p>
          <a:p>
            <a:pPr>
              <a:spcBef>
                <a:spcPts val="400"/>
              </a:spcBef>
              <a:defRPr sz="1400">
                <a:solidFill>
                  <a:srgbClr val="ADB5BD"/>
                </a:solidFill>
                <a:latin typeface="Malgun Gothic"/>
              </a:defRPr>
            </a:pPr>
            <a:r>
              <a:t>각 재무 지표에 대한 구체적인 선형 감점 및 분기 기준 공식 명세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011680"/>
            <a:ext cx="5120640" cy="1828800"/>
          </a:xfrm>
          <a:prstGeom prst="rect">
            <a:avLst/>
          </a:prstGeom>
          <a:solidFill>
            <a:srgbClr val="161C2D"/>
          </a:solidFill>
          <a:ln w="63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FF"/>
                </a:solidFill>
                <a:latin typeface="Malgun Gothic"/>
              </a:defRPr>
            </a:pPr>
            <a:r>
              <a:t>① PER (Trailing PE) 점수 - 만점 30점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PE ≤ 10: 30점 만점 부여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10 &lt; PE &lt; 30: int(30 × (30 - PE) / 20) 점 (선형 비례 감점)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PE ≥ 30 또는 적자(PE &lt; 0)인 경우: 0점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2011680"/>
            <a:ext cx="5120640" cy="1828800"/>
          </a:xfrm>
          <a:prstGeom prst="rect">
            <a:avLst/>
          </a:prstGeom>
          <a:solidFill>
            <a:srgbClr val="161C2D"/>
          </a:solidFill>
          <a:ln w="63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5392" y="21945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FF"/>
                </a:solidFill>
                <a:latin typeface="Malgun Gothic"/>
              </a:defRPr>
            </a:pPr>
            <a:r>
              <a:t>② PEG (PEG Ratio) 점수 - 만점 20점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PEG ≤ 1.0: 20점 만점 부여 (피터 린치 성장주 가치 기준)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1.0 &lt; PEG &lt; 2.0: int(20 × (2.0 - PEG) / 1.0) 점 (선형 감점)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PEG ≥ 2.0 또는 데이터 누락 시: 0점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114800"/>
            <a:ext cx="5120640" cy="1828800"/>
          </a:xfrm>
          <a:prstGeom prst="rect">
            <a:avLst/>
          </a:prstGeom>
          <a:solidFill>
            <a:srgbClr val="161C2D"/>
          </a:solidFill>
          <a:ln w="63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9768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FF"/>
                </a:solidFill>
                <a:latin typeface="Malgun Gothic"/>
              </a:defRPr>
            </a:pPr>
            <a:r>
              <a:t>③ EPS 성장성 점수 - 만점 20점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성장률 G = ((Forward EPS - Trailing EPS) / |Trailing EPS|) × 100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G ≥ 20%: 20점 만점 (미래 이익 고성장 모멘텀)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0% &lt; G &lt; 20%: int(20 × G / 20) 점 (성장율에 비례한 점수)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G ≤ 0%: 0점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2512" y="4114800"/>
            <a:ext cx="5120640" cy="1828800"/>
          </a:xfrm>
          <a:prstGeom prst="rect">
            <a:avLst/>
          </a:prstGeom>
          <a:solidFill>
            <a:srgbClr val="161C2D"/>
          </a:solidFill>
          <a:ln w="63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429768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FF"/>
                </a:solidFill>
                <a:latin typeface="Malgun Gothic"/>
              </a:defRPr>
            </a:pPr>
            <a:r>
              <a:t>④ 목표가 대비 상승 여력 - 만점 15점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상승여력 U = ((Target Mean Price - Current) / Current) × 100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U ≥ 20%: 15점 만점 (애널리스트 합의 20% 이상 저평가)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0% &lt; U &lt; 20%: int(15 × U / 20) 점 (상승 여력 비례 점수)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U ≤ 0% 또는 정보 없음: 0점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Malgun Gothic"/>
              </a:defRPr>
            </a:pPr>
            <a:r>
              <a:t>6. CANSLIM 필터 세부 통과 기준 (15점 가산)</a:t>
            </a:r>
          </a:p>
          <a:p>
            <a:pPr>
              <a:spcBef>
                <a:spcPts val="400"/>
              </a:spcBef>
              <a:defRPr sz="1400">
                <a:solidFill>
                  <a:srgbClr val="ADB5BD"/>
                </a:solidFill>
                <a:latin typeface="Malgun Gothic"/>
              </a:defRPr>
            </a:pPr>
            <a:r>
              <a:t>윌리엄 오닐의 7대 모멘텀 투자 요건 (전부 만족 시 15점, 하나라도 미충족 시 0점)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011680"/>
            <a:ext cx="3383280" cy="1920240"/>
          </a:xfrm>
          <a:prstGeom prst="rect">
            <a:avLst/>
          </a:prstGeom>
          <a:solidFill>
            <a:srgbClr val="161C2D"/>
          </a:solidFill>
          <a:ln w="63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30175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FF"/>
                </a:solidFill>
                <a:latin typeface="Malgun Gothic"/>
              </a:defRPr>
            </a:pPr>
            <a:r>
              <a:t>C: 분기 EPS 성장 (Current)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최근 분기 주당순이익(EPS)이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전년 동기 대비(YoY) 20% 이상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상승했을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1960" y="2011680"/>
            <a:ext cx="3383280" cy="1920240"/>
          </a:xfrm>
          <a:prstGeom prst="rect">
            <a:avLst/>
          </a:prstGeom>
          <a:solidFill>
            <a:srgbClr val="161C2D"/>
          </a:solidFill>
          <a:ln w="63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840" y="2194560"/>
            <a:ext cx="30175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FF"/>
                </a:solidFill>
                <a:latin typeface="Malgun Gothic"/>
              </a:defRPr>
            </a:pPr>
            <a:r>
              <a:t>A: 연간 이익 증가 (Annual)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최근 3개년 연간 EPS가 매년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20% 이상 성장하고, 최신 분기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ROE가 17% 이상일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2011680"/>
            <a:ext cx="3383280" cy="1920240"/>
          </a:xfrm>
          <a:prstGeom prst="rect">
            <a:avLst/>
          </a:prstGeom>
          <a:solidFill>
            <a:srgbClr val="161C2D"/>
          </a:solidFill>
          <a:ln w="63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194560"/>
            <a:ext cx="30175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FF"/>
                </a:solidFill>
                <a:latin typeface="Malgun Gothic"/>
              </a:defRPr>
            </a:pPr>
            <a:r>
              <a:t>N: 신제품/신고가 (New)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기업의 혁신 동력이 있으며,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현재 주가가 52주 신고가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범위 인근(15% 이내)일 것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206240"/>
            <a:ext cx="3383280" cy="1920240"/>
          </a:xfrm>
          <a:prstGeom prst="rect">
            <a:avLst/>
          </a:prstGeom>
          <a:solidFill>
            <a:srgbClr val="161C2D"/>
          </a:solidFill>
          <a:ln w="63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30175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FF"/>
                </a:solidFill>
                <a:latin typeface="Malgun Gothic"/>
              </a:defRPr>
            </a:pPr>
            <a:r>
              <a:t>S: 수급과 거래량 (Supply)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당일 주가가 2% 이상 상승 시,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거래량이 50일 평균 거래량을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초과하여 강력 매수세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4206240"/>
            <a:ext cx="3383280" cy="1920240"/>
          </a:xfrm>
          <a:prstGeom prst="rect">
            <a:avLst/>
          </a:prstGeom>
          <a:solidFill>
            <a:srgbClr val="161C2D"/>
          </a:solidFill>
          <a:ln w="63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389120"/>
            <a:ext cx="30175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FF"/>
                </a:solidFill>
                <a:latin typeface="Malgun Gothic"/>
              </a:defRPr>
            </a:pPr>
            <a:r>
              <a:t>L/I: 주도주 &amp; 기관 수급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L: RS 백분위 순위 70 이상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I: 기관 투자자 지분율이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30% 이상일 것 (yfinance 기준)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4206240"/>
            <a:ext cx="3383280" cy="1920240"/>
          </a:xfrm>
          <a:prstGeom prst="rect">
            <a:avLst/>
          </a:prstGeom>
          <a:solidFill>
            <a:srgbClr val="161C2D"/>
          </a:solidFill>
          <a:ln w="63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4389120"/>
            <a:ext cx="30175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D2FF"/>
                </a:solidFill>
                <a:latin typeface="Malgun Gothic"/>
              </a:defRPr>
            </a:pPr>
            <a:r>
              <a:t>M: 시장 방향성 (Market)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• 소속 시장 종합 지수(KOSPI,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S&amp;P500)가 50일선 위에 있고,</a:t>
            </a:r>
          </a:p>
          <a:p>
            <a:pPr>
              <a:spcBef>
                <a:spcPts val="400"/>
              </a:spcBef>
              <a:defRPr sz="1200">
                <a:solidFill>
                  <a:srgbClr val="F8F9FA"/>
                </a:solidFill>
                <a:latin typeface="Malgun Gothic"/>
              </a:defRPr>
            </a:pPr>
            <a:r>
              <a:t>  50일선이 200일선 위의 상승세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